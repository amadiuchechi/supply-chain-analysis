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D3D"/>
                </a:solidFill>
              </a:defRPr>
            </a:pPr>
            <a:r>
              <a:t>Uniquexcel Supply Chain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C6770"/>
                </a:solidFill>
              </a:defRPr>
            </a:pPr>
            <a:r>
              <a:t>Dashboard insights, operational risks, and 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0"/>
                </a:solidFill>
              </a:defRPr>
            </a:pPr>
            <a:r>
              <a:t>A consolidated view of cost, lead time, quality, inventory risk, and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86D7BF-2CA3-BB25-FF15-13DC1B83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8557"/>
            <a:ext cx="12192000" cy="53651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Headline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2560320" cy="914400"/>
          </a:xfrm>
          <a:prstGeom prst="roundRect">
            <a:avLst/>
          </a:prstGeom>
          <a:solidFill>
            <a:srgbClr val="2D64BE"/>
          </a:solidFill>
          <a:ln>
            <a:solidFill>
              <a:srgbClr val="2D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Total Shipping Costs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$2,672.19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25880"/>
            <a:ext cx="2560320" cy="914400"/>
          </a:xfrm>
          <a:prstGeom prst="roundRect">
            <a:avLst/>
          </a:prstGeom>
          <a:solidFill>
            <a:srgbClr val="2D64BE"/>
          </a:solidFill>
          <a:ln>
            <a:solidFill>
              <a:srgbClr val="2D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Avg. Manufacturing Lead Time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14.78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25880"/>
            <a:ext cx="2560320" cy="914400"/>
          </a:xfrm>
          <a:prstGeom prst="roundRect">
            <a:avLst/>
          </a:prstGeom>
          <a:solidFill>
            <a:srgbClr val="2D64BE"/>
          </a:solidFill>
          <a:ln>
            <a:solidFill>
              <a:srgbClr val="2D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Avg. Defect Rate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2.56%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325880"/>
            <a:ext cx="2560320" cy="914400"/>
          </a:xfrm>
          <a:prstGeom prst="roundRect">
            <a:avLst/>
          </a:prstGeom>
          <a:solidFill>
            <a:srgbClr val="2D64BE"/>
          </a:solidFill>
          <a:ln>
            <a:solidFill>
              <a:srgbClr val="2D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Avg. Product Cost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$475.26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D3D"/>
                </a:solidFill>
              </a:defRPr>
            </a:pPr>
            <a:r>
              <a:rPr sz="2000" dirty="0"/>
              <a:t>• The dashboard combines logistics, supplier, quality, stockout-risk, and profitability measures.</a:t>
            </a:r>
          </a:p>
          <a:p>
            <a:pPr>
              <a:spcAft>
                <a:spcPts val="1000"/>
              </a:spcAft>
              <a:defRPr sz="1900">
                <a:solidFill>
                  <a:srgbClr val="1F2D3D"/>
                </a:solidFill>
              </a:defRPr>
            </a:pPr>
            <a:r>
              <a:rPr sz="2000" dirty="0"/>
              <a:t>• The largest improvement opportunities are inventory replenishment, supplier quality, and route/supplier cost management.</a:t>
            </a:r>
          </a:p>
          <a:p>
            <a:pPr>
              <a:spcAft>
                <a:spcPts val="1000"/>
              </a:spcAft>
              <a:defRPr sz="1900">
                <a:solidFill>
                  <a:srgbClr val="1F2D3D"/>
                </a:solidFill>
              </a:defRPr>
            </a:pPr>
            <a:r>
              <a:rPr sz="2000" dirty="0"/>
              <a:t>• Transportation mode itself has only a small cost difference, so route and supplier decisions matter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Stockout Risk: Immediate Replenishment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19" y="1188720"/>
            <a:ext cx="5951957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High-risk records exceed low-risk records in both product categories: 135 in skincare and 118 in haircare.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SKU152 and SKU372 are the highest priorities, each with availability 96 units below order quantity.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Other severe shortages include SKU35, SKU427, SKU195, SKU391, SKU83, SKU432, and SKU487.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Use an exception-based replenishment list and review it weekly, with extra attention to skincare.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F7A68E-3E78-77E0-4A6C-1AD9CAC4C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39375" cy="2772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Routes and Suppliers: Delay and Cost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005841"/>
            <a:ext cx="6044184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D3D"/>
                </a:solidFill>
              </a:defRPr>
            </a:pPr>
            <a:r>
              <a:rPr sz="2000" dirty="0"/>
              <a:t>• Route C has the longest average lead time at about 16.05 days.</a:t>
            </a:r>
          </a:p>
          <a:p>
            <a:pPr>
              <a:spcAft>
                <a:spcPts val="1000"/>
              </a:spcAft>
              <a:defRPr sz="1400">
                <a:solidFill>
                  <a:srgbClr val="1F2D3D"/>
                </a:solidFill>
              </a:defRPr>
            </a:pPr>
            <a:r>
              <a:rPr sz="2000" dirty="0"/>
              <a:t>• Route B performs best overall, with about 15.30 days lead time and $5.25 average shipping cost.</a:t>
            </a:r>
          </a:p>
          <a:p>
            <a:pPr>
              <a:spcAft>
                <a:spcPts val="1000"/>
              </a:spcAft>
              <a:defRPr sz="1400">
                <a:solidFill>
                  <a:srgbClr val="1F2D3D"/>
                </a:solidFill>
              </a:defRPr>
            </a:pPr>
            <a:r>
              <a:rPr sz="2000" dirty="0"/>
              <a:t>• Supplier 4 has the longest supplier lead time (17.04 days) and manufacturing lead time (16.35 days).</a:t>
            </a:r>
          </a:p>
          <a:p>
            <a:pPr>
              <a:spcAft>
                <a:spcPts val="1000"/>
              </a:spcAft>
              <a:defRPr sz="1400">
                <a:solidFill>
                  <a:srgbClr val="1F2D3D"/>
                </a:solidFill>
              </a:defRPr>
            </a:pPr>
            <a:r>
              <a:rPr sz="2000" dirty="0"/>
              <a:t>• Supplier 5 has the highest average shipping cost at about $5.71.</a:t>
            </a:r>
          </a:p>
          <a:p>
            <a:pPr>
              <a:spcAft>
                <a:spcPts val="1000"/>
              </a:spcAft>
              <a:defRPr sz="1400">
                <a:solidFill>
                  <a:srgbClr val="1F2D3D"/>
                </a:solidFill>
              </a:defRPr>
            </a:pPr>
            <a:r>
              <a:rPr sz="2000" dirty="0"/>
              <a:t>• Shift suitable volume toward Route B, improve Supplier 4 lead time, and renegotiate Supplier 5 freight.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7D6F0-59E8-B2A5-2A53-1C0DCCEC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70824"/>
            <a:ext cx="5088972" cy="2907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Quality: Defect Rates Are Supplier-Specific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7296" y="993446"/>
            <a:ext cx="5775275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Supplier 1 has the highest average defect rate at about 2.80%; Supplier 3 follows at 2.72%.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Supplier 4 has the lowest average defect rate at about 2.35%, despite its long manufacturing lead time.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Manufacturing lead time and defect rate have approximately 0.02 correlation</a:t>
            </a:r>
            <a:r>
              <a:rPr lang="en-CA" sz="2000" dirty="0"/>
              <a:t>, almost </a:t>
            </a:r>
            <a:r>
              <a:rPr sz="2000" dirty="0"/>
              <a:t>no relationship.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Prioritize incoming quality controls and corrective action for Suppliers 1 and 3; manage Supplier 4 mainly for speed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66AF4-877A-806F-FC98-1424B337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28" y="993446"/>
            <a:ext cx="4887007" cy="2896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29075F-6F06-A7FF-6B07-8FD02C6AF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8" y="3851236"/>
            <a:ext cx="4887007" cy="29636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Product Profitability: Protect Winners, Review Weak SKUs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1158732"/>
            <a:ext cx="611733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D3D"/>
                </a:solidFill>
              </a:defRPr>
            </a:pPr>
            <a:r>
              <a:rPr sz="2000" dirty="0"/>
              <a:t>• Top net-profitability SKUs: SKU198 ($976.02), SKU146 ($968.80), SKU393 ($960.15), SKU208 ($956.36), and SKU378 ($948.36).</a:t>
            </a:r>
          </a:p>
          <a:p>
            <a:pPr>
              <a:spcAft>
                <a:spcPts val="1000"/>
              </a:spcAft>
              <a:defRPr sz="1500">
                <a:solidFill>
                  <a:srgbClr val="1F2D3D"/>
                </a:solidFill>
              </a:defRPr>
            </a:pPr>
            <a:r>
              <a:rPr sz="2000" dirty="0"/>
              <a:t>• Weakest SKUs: SKU61 ($10.08), SKU184 ($15.62), SKU169 ($29.60), SKU299 ($29.64), and SKU271 ($31.96).</a:t>
            </a:r>
          </a:p>
          <a:p>
            <a:pPr>
              <a:spcAft>
                <a:spcPts val="1000"/>
              </a:spcAft>
              <a:defRPr sz="1500">
                <a:solidFill>
                  <a:srgbClr val="1F2D3D"/>
                </a:solidFill>
              </a:defRPr>
            </a:pPr>
            <a:r>
              <a:rPr sz="2000" dirty="0"/>
              <a:t>• Protect inventory and capacity for the strongest SKUs.</a:t>
            </a:r>
          </a:p>
          <a:p>
            <a:pPr>
              <a:spcAft>
                <a:spcPts val="1000"/>
              </a:spcAft>
              <a:defRPr sz="1500">
                <a:solidFill>
                  <a:srgbClr val="1F2D3D"/>
                </a:solidFill>
              </a:defRPr>
            </a:pPr>
            <a:r>
              <a:rPr sz="2000" dirty="0"/>
              <a:t>• Review pricing, manufacturing cost, order quantity, and shipment method for low-profit products; consider repricing, redesign, bundling, supplier changes, or discontinuation.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ED3027-4EB1-F1BA-98D7-11BD23E8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58" y="1253476"/>
            <a:ext cx="4591691" cy="2924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Transportation Mode: Cost Differences Are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102687"/>
            <a:ext cx="6383102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Average shipping costs are close: Air ≈ $5.54, Rail ≈ $5.48, Road ≈ $5.39.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The Air-to-Road difference is only about $0.15 per shipment, so mode has a weak practical cost relationship.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Choose Road where feasible, Rail for steady bulk replenishment, and Air for urgent stockout avoidance or high-margin items.</a:t>
            </a:r>
          </a:p>
          <a:p>
            <a:pPr>
              <a:spcAft>
                <a:spcPts val="1000"/>
              </a:spcAft>
              <a:defRPr sz="1600">
                <a:solidFill>
                  <a:srgbClr val="1F2D3D"/>
                </a:solidFill>
              </a:defRPr>
            </a:pPr>
            <a:r>
              <a:rPr sz="2000" dirty="0"/>
              <a:t>• Focus savings efforts on route and supplier negotiations rather than mode switching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9C3C9-62D6-FEF8-5302-54A7A9DD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95" y="1359179"/>
            <a:ext cx="4505954" cy="27340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Recommended Action Priorities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10789920" cy="841248"/>
          </a:xfrm>
          <a:prstGeom prst="roundRect">
            <a:avLst/>
          </a:prstGeom>
          <a:solidFill>
            <a:srgbClr val="F2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Immediate: Replenish the most stockout-risky SKUs</a:t>
            </a:r>
          </a:p>
          <a:p>
            <a:pPr>
              <a:defRPr sz="1200">
                <a:solidFill>
                  <a:srgbClr val="5C6770"/>
                </a:solidFill>
              </a:defRPr>
            </a:pPr>
            <a:r>
              <a:t>Expected benefit: Avoid lost sales and emergency replenishment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10789920" cy="841248"/>
          </a:xfrm>
          <a:prstGeom prst="roundRect">
            <a:avLst/>
          </a:prstGeom>
          <a:solidFill>
            <a:srgbClr val="F2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Immediate: Fix problems with Supplier 1 and Supplier 3</a:t>
            </a:r>
          </a:p>
          <a:p>
            <a:pPr>
              <a:defRPr sz="1200">
                <a:solidFill>
                  <a:srgbClr val="5C6770"/>
                </a:solidFill>
              </a:defRPr>
            </a:pPr>
            <a:r>
              <a:t>Expected benefit: Reduce defects, returns, and complaints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00400"/>
            <a:ext cx="10789920" cy="841248"/>
          </a:xfrm>
          <a:prstGeom prst="roundRect">
            <a:avLst/>
          </a:prstGeom>
          <a:solidFill>
            <a:srgbClr val="F2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Near term: Test larger loads on Route B; reduce unnecessary A/C usage</a:t>
            </a:r>
          </a:p>
          <a:p>
            <a:pPr>
              <a:defRPr sz="1200">
                <a:solidFill>
                  <a:srgbClr val="5C6770"/>
                </a:solidFill>
              </a:defRPr>
            </a:pPr>
            <a:r>
              <a:t>Expected benefit: Lower freight charges and lead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0789920" cy="841248"/>
          </a:xfrm>
          <a:prstGeom prst="roundRect">
            <a:avLst/>
          </a:prstGeom>
          <a:solidFill>
            <a:srgbClr val="F2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Near term: Improve Supplier 4 lead time; renegotiate Supplier 5 freight</a:t>
            </a:r>
          </a:p>
          <a:p>
            <a:pPr>
              <a:defRPr sz="1200">
                <a:solidFill>
                  <a:srgbClr val="5C6770"/>
                </a:solidFill>
              </a:defRPr>
            </a:pPr>
            <a:r>
              <a:t>Expected benefit: Increase reliability and reduce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120640"/>
            <a:ext cx="10789920" cy="841248"/>
          </a:xfrm>
          <a:prstGeom prst="roundRect">
            <a:avLst/>
          </a:prstGeom>
          <a:solidFill>
            <a:srgbClr val="F2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Monthly: Review SKU-level net profitability</a:t>
            </a:r>
          </a:p>
          <a:p>
            <a:pPr>
              <a:defRPr sz="1200">
                <a:solidFill>
                  <a:srgbClr val="5C6770"/>
                </a:solidFill>
              </a:defRPr>
            </a:pPr>
            <a:r>
              <a:t>Expected benefit: Improve product mix and operating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668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UCHECHI NNEAMAKA AMADI</dc:creator>
  <cp:keywords/>
  <dc:description>generated using python-pptx</dc:description>
  <cp:lastModifiedBy>Amadi, Uchechi</cp:lastModifiedBy>
  <cp:revision>3</cp:revision>
  <dcterms:created xsi:type="dcterms:W3CDTF">2013-01-27T09:14:16Z</dcterms:created>
  <dcterms:modified xsi:type="dcterms:W3CDTF">2026-08-17T16:25:48Z</dcterms:modified>
  <cp:category/>
</cp:coreProperties>
</file>